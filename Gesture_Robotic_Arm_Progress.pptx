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14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13B066E-F094-54CD-A5F7-DDCC3857A120}"/>
              </a:ext>
            </a:extLst>
          </p:cNvPr>
          <p:cNvSpPr txBox="1">
            <a:spLocks/>
          </p:cNvSpPr>
          <p:nvPr/>
        </p:nvSpPr>
        <p:spPr>
          <a:xfrm>
            <a:off x="1145458" y="2939903"/>
            <a:ext cx="9901084" cy="9781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Gesture-Controlled Robotic Arm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25E8823-05A4-EF6E-7BDD-DC361BF23C96}"/>
              </a:ext>
            </a:extLst>
          </p:cNvPr>
          <p:cNvSpPr txBox="1">
            <a:spLocks/>
          </p:cNvSpPr>
          <p:nvPr/>
        </p:nvSpPr>
        <p:spPr>
          <a:xfrm>
            <a:off x="1077411" y="4890977"/>
            <a:ext cx="3239387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Submitted By:</a:t>
            </a:r>
            <a:b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Vishwas Patel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2427030557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BB1E935-EDC2-CE19-D4A3-FB71DE38E9D1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prstClr val="black"/>
                </a:solidFill>
                <a:latin typeface="Aptos" panose="02110004020202020204"/>
              </a:rPr>
              <a:t>Supervised By:</a:t>
            </a:r>
            <a:br>
              <a:rPr lang="en-IN" dirty="0">
                <a:solidFill>
                  <a:prstClr val="black"/>
                </a:solidFill>
                <a:latin typeface="Aptos" panose="02110004020202020204"/>
              </a:rPr>
            </a:br>
            <a:r>
              <a:rPr lang="en-IN" dirty="0">
                <a:solidFill>
                  <a:prstClr val="black"/>
                </a:solidFill>
                <a:latin typeface="Aptos" panose="02110004020202020204"/>
              </a:rPr>
              <a:t>Dr. Rishi Gupta</a:t>
            </a:r>
          </a:p>
          <a:p>
            <a:endParaRPr lang="en-IN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96A73CE2-5099-9D56-C40B-2D362500F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CDB1302-2EEC-80F6-9E3C-4A9318DD3035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>
                <a:solidFill>
                  <a:prstClr val="black"/>
                </a:solidFill>
                <a:latin typeface="Aptos Display" panose="02110004020202020204"/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prstClr val="black"/>
                </a:solidFill>
                <a:latin typeface="Aptos Display" panose="02110004020202020204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91667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robotic arm is controlled in real time using natural hand movements and gestures, captured through a standard webcam — no joystick, teach-pendant, or physical controller involved.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313639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pose and gestures are captured via webcam + computer vision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67912"/>
            <a:ext cx="91440" cy="9144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motion is converted into a target end-effector position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91440" cy="9144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42702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(simulated MyCobot 280) follows the hand in real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6809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331720"/>
            <a:ext cx="457200" cy="45720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680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Feed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hand video input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45552" y="2926080"/>
            <a:ext cx="164592" cy="256032"/>
          </a:xfrm>
          <a:prstGeom prst="down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680960" y="3246120"/>
            <a:ext cx="457200" cy="45720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680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Understanding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depth estimate, pinch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45552" y="3840480"/>
            <a:ext cx="164592" cy="256032"/>
          </a:xfrm>
          <a:prstGeom prst="down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680960" y="4160520"/>
            <a:ext cx="457200" cy="457200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680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Motion (Simulated)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MyCobot 280 in RViz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Gesture-Based Control?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523744"/>
            <a:ext cx="73152" cy="73152"/>
          </a:xfrm>
          <a:prstGeom prst="ellipse">
            <a:avLst/>
          </a:prstGeom>
          <a:solidFill>
            <a:srgbClr val="8A8F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78992" y="2350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joysticks, teach pendants, or pre-programmed paths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00984"/>
            <a:ext cx="73152" cy="73152"/>
          </a:xfrm>
          <a:prstGeom prst="ellipse">
            <a:avLst/>
          </a:prstGeom>
          <a:solidFill>
            <a:srgbClr val="8A8F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078992" y="31272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trained operators for setup and adjustment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078224"/>
            <a:ext cx="73152" cy="73152"/>
          </a:xfrm>
          <a:prstGeom prst="ellipse">
            <a:avLst/>
          </a:prstGeom>
          <a:solidFill>
            <a:srgbClr val="8A8F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078992" y="3904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intuitiveness for quick or ad-hoc tasks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855464"/>
            <a:ext cx="73152" cy="73152"/>
          </a:xfrm>
          <a:prstGeom prst="ellipse">
            <a:avLst/>
          </a:prstGeom>
          <a:solidFill>
            <a:srgbClr val="8A8F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78992" y="46817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controllers add cost and complexity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19672" y="16916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E2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793992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GESTURE-BASED CONTROL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39712" y="2523744"/>
            <a:ext cx="73152" cy="73152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050024" y="2350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natural hand movement — no extra hardware controller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39712" y="3300984"/>
            <a:ext cx="73152" cy="73152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050024" y="31272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intuitive interaction for simple tasks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39712" y="4078224"/>
            <a:ext cx="73152" cy="73152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050024" y="3904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input is low-cost and easy to set up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39712" y="4855464"/>
            <a:ext cx="73152" cy="73152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050024" y="46817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education, prototyping, and assistive scenarios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856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Hand Tracking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774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hand landmarks and gestures reliably from a live webcam feed.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0" y="1856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Gesture-to-Motion Mapping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3774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hand position and gestures into a target robot end-effector position.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0507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42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IK-Driven Robot Control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720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inverse kinematics to compute correct joint angles for that position.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0800" y="40507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142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Validation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5720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complete pipeline on a MyCobot 280 in ROS 2 / RViz before hardware.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" y="20116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50976" y="2011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82696" y="2409444"/>
            <a:ext cx="320040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02736" y="20116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602736" y="2011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34456" y="2409444"/>
            <a:ext cx="320040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54496" y="20116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254496" y="2011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86216" y="2409444"/>
            <a:ext cx="320040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906256" y="20116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906256" y="20116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Coords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Gesture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0734" y="2971800"/>
            <a:ext cx="164592" cy="868680"/>
          </a:xfrm>
          <a:prstGeom prst="down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76856" y="38404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 rot="10800000">
            <a:off x="4608576" y="4237778"/>
            <a:ext cx="320040" cy="165058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28616" y="38404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928616" y="3840480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7260336" y="4238244"/>
            <a:ext cx="320040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pPr algn="r"/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7580376" y="38404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2319637" y="3840014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/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MyCobot 280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Webcam → OpenCV → MediaPipe Hands → Hand Landmarks → Palm Position + Depth + Gestures → Target Position → Inverse Kinematics → Joint Angles → ROS 2 → RViz → MyCobot 280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E410CB2-F0FA-EF24-4177-FAA96DF76025}"/>
              </a:ext>
            </a:extLst>
          </p:cNvPr>
          <p:cNvSpPr txBox="1"/>
          <p:nvPr/>
        </p:nvSpPr>
        <p:spPr>
          <a:xfrm>
            <a:off x="7580376" y="3803905"/>
            <a:ext cx="23317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Pose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(IK)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In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1783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59636" y="2011680"/>
            <a:ext cx="640080" cy="6400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6596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65576" y="1783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02836" y="2011680"/>
            <a:ext cx="640080" cy="640080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028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783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46036" y="201168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460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detection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51976" y="1783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889236" y="2011680"/>
            <a:ext cx="640080" cy="64008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8892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middleware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" y="3886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659636" y="4114800"/>
            <a:ext cx="640080" cy="640080"/>
          </a:xfrm>
          <a:prstGeom prst="ellipse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16596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65576" y="3886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402836" y="4114800"/>
            <a:ext cx="640080" cy="640080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44028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57016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/ Xacro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57016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model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08776" y="3886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146036" y="41148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1460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00216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IKPy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00216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51976" y="3886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889236" y="4114800"/>
            <a:ext cx="640080" cy="640080"/>
          </a:xfrm>
          <a:prstGeom prst="ellipse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8892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043416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sensor_msgs/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JointState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43416" y="5212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communication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ACHIEVED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48256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92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48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capture using OpenCV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55080" y="2048256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35508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92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148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— 21 landmarks + palm center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3152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821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Movement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3872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X/Y from position, Z estimated from hand size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35808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55080" y="3438144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5508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1821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53872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gesture with hysteresis thresholds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25696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4828032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3152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5720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Communication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9286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states published on /joint_states (radians)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25696"/>
            <a:ext cx="525780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55080" y="4828032"/>
            <a:ext cx="402336" cy="402336"/>
          </a:xfrm>
          <a:prstGeom prst="ellipse">
            <a:avLst/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355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5720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Simulation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9286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MyCobot 280 integrated in ROS 2 / RViz, driven live by hand tracking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first working version worked: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85316" y="21031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385316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X / Y / 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19956" y="2478024"/>
            <a:ext cx="402336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77156" y="21031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677156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Joint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11796" y="2478024"/>
            <a:ext cx="402336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68996" y="21031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E4ECF5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968996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C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USEFUL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full pipeline end-to-end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→ gestures → visible robot motion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way to validate ROS 2 + RViz setup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19672" y="35204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BF1E6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793992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4114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genuine inverse kinematics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were chosen directly from hand position, not computed from robot geometry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Inverse Kinematics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17830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67512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End-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 Position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33472" y="2180844"/>
            <a:ext cx="201168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889504" y="17830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89504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Solver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(IKPy)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55464" y="2180844"/>
            <a:ext cx="201168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111496" y="17830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111496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77456" y="2180844"/>
            <a:ext cx="201168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33488" y="17830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333488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/joint_states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(ROS 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99448" y="2180844"/>
            <a:ext cx="201168" cy="164592"/>
          </a:xfrm>
          <a:prstGeom prst="rightArrow">
            <a:avLst/>
          </a:prstGeom>
          <a:solidFill>
            <a:srgbClr val="5B72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55480" y="178308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555480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2733" y="29489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replaces the earlier direct-mapping approach with joint angles computed from robot geometry.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IKPy is being explored as the IK solver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 used to verify the resulting end-effector position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error is calculated between desired and achieved pose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9672" y="36118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793992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OPEN PROBLEMS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can yield multiple valid joint configurations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joint names must correctly map to ROS joint names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&amp; STABILITY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Jitter and Signal Loss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hand-tracking coordinates are noisy — smoothing keeps the robot's motion stable and natural.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1E2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Euro Filter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introduced to smooth hand-position signals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reduce jitter while keeping latency low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positions are sent to the IK stage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19672" y="219456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793992" y="2468880"/>
            <a:ext cx="457200" cy="457200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79399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88352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Hand-Loss Handling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154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hand temporarily leaves the camera view, the robot holds its last valid position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sudden, unintended arm motion from tracking dropouts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improvements target the same goal: keeping robot motion predictable and safe to watch during live control.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Obstacles Along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38528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MediaPipe / NumPy version compatibility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9808" y="3419856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3721608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and simulation environment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0016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49808" y="4901184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5202936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MyCobot URDF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1737360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07408" y="1938528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480560" y="2240280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camera coordinates to robot coordinates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3218688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07408" y="3419856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480560" y="3721608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Hand-tracking jitter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4700016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07408" y="4901184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480560" y="5202936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depth from a normal (non-depth) webcam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0" y="1737360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065008" y="1938528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138160" y="2240280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yielding multiple possible joint configurations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3218688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65008" y="3419856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138160" y="3721608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IK solver joints to correct ROS joint names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0" y="4700016"/>
            <a:ext cx="3429000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065008" y="4901184"/>
            <a:ext cx="201168" cy="201168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138160" y="5202936"/>
            <a:ext cx="2880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IK results using forward kinematics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hand tracking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0" y="17556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589520" y="17556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landmarks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0" y="22128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58952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26700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589520" y="26700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communication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89520" y="31272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589520" y="3127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48640" y="3520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MyCobot 280 RViz simulation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589520" y="35844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589520" y="3584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hand-controlled simulation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89520" y="40416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589520" y="40416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URDF-based inverse kinematics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589520" y="44988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7589520" y="4498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892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/ calibration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89520" y="49560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589520" y="49560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robotic arm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589520" y="5413248"/>
            <a:ext cx="3108960" cy="329184"/>
          </a:xfrm>
          <a:prstGeom prst="roundRect">
            <a:avLst>
              <a:gd name="adj" fmla="val 138889"/>
            </a:avLst>
          </a:prstGeom>
          <a:solidFill>
            <a:srgbClr val="8A8F9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7589520" y="5413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Technical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IK Integration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IKPy-based solving and connect it fully into the control loop.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720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Forward Kinematics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IK output against desired position and quantify error.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3667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Joint Name Mapping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IK solver joints map correctly to ROS 2 joint names.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772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Euro Filtering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smoothing into the live pipeline and tune parameters.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5720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Depth Estimation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hand-size-based Z estimation for more stable reach control.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3667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Testing in RViz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the full pipeline across a wider range of hand motions.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783080"/>
            <a:ext cx="457200" cy="36576"/>
          </a:xfrm>
          <a:prstGeom prst="rect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next, running live: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4374F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877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 tracking on live webcam feed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264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4374F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movement driving robot target position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39227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4374F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04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gesture recognition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45811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4374F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5628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/joint_states being published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31520" y="5239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4374F"/>
          </a:solidFill>
          <a:ln w="12700">
            <a:solidFill>
              <a:srgbClr val="C97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2212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MyCobot 280 motion in RViz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995</Words>
  <Application>Microsoft Office PowerPoint</Application>
  <PresentationFormat>Widescreen</PresentationFormat>
  <Paragraphs>244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Vishwas Dhanvadan Patel [CSE - 2024]</cp:lastModifiedBy>
  <cp:revision>2</cp:revision>
  <dcterms:created xsi:type="dcterms:W3CDTF">2026-09-15T19:00:14Z</dcterms:created>
  <dcterms:modified xsi:type="dcterms:W3CDTF">2026-09-15T19:57:29Z</dcterms:modified>
</cp:coreProperties>
</file>